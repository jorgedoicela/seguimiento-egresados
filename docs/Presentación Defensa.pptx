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42B25B-93F7-D8A5-AEA0-ECEC4545B0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EE9CC-F51C-E770-1CB0-D53518CB94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FE22A3-5D8C-C109-DE4F-1BCFC75DD7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8EEFFC-E418-C2C5-0B7E-61D6CADE7B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28C6C5-8473-FEA8-6B80-7B15D822E5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528225-2CF0-9EEB-8806-9B96B8FACC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A67A5A-E447-B05F-F460-1E3B87D159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B576C0-0D2F-44C3-EC03-07B470E289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686279-D8DE-AB32-6305-7D53B02E12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766A91-0516-0DAF-7B88-7E024C3A5D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651459-A786-ADEC-2021-7F8B454D19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C9D4E-291E-19A0-6125-73F19DD1AB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39854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1978158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703192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506901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86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6780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015513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44346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648932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55251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536936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14049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10376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467293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8121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923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479382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804524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79683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131095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72598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8604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27663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8280494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182286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629076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229876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9444646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48586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902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813147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02163122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5890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54066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044883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649233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758377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421606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71731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9791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555004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89424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55451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740873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567793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87163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29123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978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0665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194304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09249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22825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42337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1116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98469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25539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743229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01715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3078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89849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593834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8092598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08715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461763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2999" b="2999"/>
            <a:stretch/>
          </a:blipFill>
        </p:spPr>
      </p:sp>
      <p:grpSp>
        <p:nvGrpSpPr>
          <p:cNvPr id="2096376217" name="Group 3"/>
          <p:cNvGrpSpPr/>
          <p:nvPr/>
        </p:nvGrpSpPr>
        <p:grpSpPr bwMode="auto">
          <a:xfrm rot="0">
            <a:off x="2490720" y="2364354"/>
            <a:ext cx="15338947" cy="1911389"/>
            <a:chOff x="0" y="0"/>
            <a:chExt cx="20451929" cy="2548519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0451930" cy="2548519"/>
            </a:xfrm>
            <a:custGeom>
              <a:avLst/>
              <a:gdLst/>
              <a:ahLst/>
              <a:cxnLst/>
              <a:rect l="l" t="t" r="r" b="b"/>
              <a:pathLst>
                <a:path w="20451930" h="2548519" fill="norm" stroke="1" extrusionOk="0">
                  <a:moveTo>
                    <a:pt x="0" y="0"/>
                  </a:moveTo>
                  <a:lnTo>
                    <a:pt x="20451930" y="0"/>
                  </a:lnTo>
                  <a:lnTo>
                    <a:pt x="20451930" y="2548519"/>
                  </a:lnTo>
                  <a:lnTo>
                    <a:pt x="0" y="25485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19050"/>
              <a:ext cx="20451929" cy="2529469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5856"/>
                </a:lnSpc>
                <a:defRPr/>
              </a:pPr>
              <a:r>
                <a:rPr lang="en-US" sz="610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Título del proyecto: Sistema de Seguimiento Profesional de Egresados</a:t>
              </a:r>
              <a:endParaRPr/>
            </a:p>
          </p:txBody>
        </p:sp>
      </p:grpSp>
      <p:grpSp>
        <p:nvGrpSpPr>
          <p:cNvPr id="301494466" name="Group 6"/>
          <p:cNvGrpSpPr/>
          <p:nvPr/>
        </p:nvGrpSpPr>
        <p:grpSpPr bwMode="auto">
          <a:xfrm rot="0">
            <a:off x="2490720" y="4725536"/>
            <a:ext cx="11634462" cy="3104234"/>
            <a:chOff x="0" y="0"/>
            <a:chExt cx="15512616" cy="413897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5512616" cy="4138978"/>
            </a:xfrm>
            <a:custGeom>
              <a:avLst/>
              <a:gdLst/>
              <a:ahLst/>
              <a:cxnLst/>
              <a:rect l="l" t="t" r="r" b="b"/>
              <a:pathLst>
                <a:path w="15512616" h="4138978" fill="norm" stroke="1" extrusionOk="0">
                  <a:moveTo>
                    <a:pt x="0" y="0"/>
                  </a:moveTo>
                  <a:lnTo>
                    <a:pt x="15512616" y="0"/>
                  </a:lnTo>
                  <a:lnTo>
                    <a:pt x="15512616" y="4138978"/>
                  </a:lnTo>
                  <a:lnTo>
                    <a:pt x="0" y="41389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142875"/>
              <a:ext cx="15512616" cy="4281853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4880"/>
                </a:lnSpc>
                <a:defRPr/>
              </a:pPr>
              <a:r>
                <a:rPr lang="en-US" sz="340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C</a:t>
              </a:r>
              <a:r>
                <a:rPr lang="en-US" sz="340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arrera:</a:t>
              </a:r>
              <a:r>
                <a:rPr lang="en-US" sz="3400">
                  <a:solidFill>
                    <a:srgbClr val="1D417E"/>
                  </a:solidFill>
                  <a:latin typeface="Arial"/>
                  <a:ea typeface="Arial"/>
                  <a:cs typeface="Arial"/>
                </a:rPr>
                <a:t> Desarrollo de Software</a:t>
              </a:r>
              <a:endParaRPr/>
            </a:p>
            <a:p>
              <a:pPr algn="l">
                <a:lnSpc>
                  <a:spcPts val="4880"/>
                </a:lnSpc>
                <a:defRPr/>
              </a:pPr>
              <a:r>
                <a:rPr lang="en-US" sz="340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Institución:</a:t>
              </a:r>
              <a:r>
                <a:rPr lang="en-US" sz="3400">
                  <a:solidFill>
                    <a:srgbClr val="1D417E"/>
                  </a:solidFill>
                  <a:latin typeface="Arial"/>
                  <a:ea typeface="Arial"/>
                  <a:cs typeface="Arial"/>
                </a:rPr>
                <a:t> Instituto Superior Universitario Sucre</a:t>
              </a:r>
              <a:endParaRPr/>
            </a:p>
            <a:p>
              <a:pPr algn="l">
                <a:lnSpc>
                  <a:spcPts val="4880"/>
                </a:lnSpc>
                <a:defRPr/>
              </a:pPr>
              <a:r>
                <a:rPr lang="en-US" sz="340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Proponente:</a:t>
              </a:r>
              <a:r>
                <a:rPr lang="en-US" sz="3400">
                  <a:solidFill>
                    <a:srgbClr val="1D417E"/>
                  </a:solidFill>
                  <a:latin typeface="Arial"/>
                  <a:ea typeface="Arial"/>
                  <a:cs typeface="Arial"/>
                </a:rPr>
                <a:t> Grace Barragan </a:t>
              </a:r>
              <a:endParaRPr/>
            </a:p>
            <a:p>
              <a:pPr algn="l">
                <a:lnSpc>
                  <a:spcPts val="4880"/>
                </a:lnSpc>
                <a:defRPr/>
              </a:pPr>
              <a:r>
                <a:rPr lang="en-US" sz="340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Tutor:</a:t>
              </a:r>
              <a:r>
                <a:rPr lang="en-US" sz="3400">
                  <a:solidFill>
                    <a:srgbClr val="1D417E"/>
                  </a:solidFill>
                  <a:latin typeface="Arial"/>
                  <a:ea typeface="Arial"/>
                  <a:cs typeface="Arial"/>
                </a:rPr>
                <a:t> Ing. Miguel Naranjo</a:t>
              </a:r>
              <a:endParaRPr/>
            </a:p>
            <a:p>
              <a:pPr algn="l">
                <a:lnSpc>
                  <a:spcPts val="4880"/>
                </a:lnSpc>
                <a:defRPr/>
              </a:pPr>
              <a:r>
                <a:rPr lang="en-US" sz="340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Período:</a:t>
              </a:r>
              <a:r>
                <a:rPr lang="en-US" sz="3400">
                  <a:solidFill>
                    <a:srgbClr val="1D417E"/>
                  </a:solidFill>
                  <a:latin typeface="Arial"/>
                  <a:ea typeface="Arial"/>
                  <a:cs typeface="Arial"/>
                </a:rPr>
                <a:t> 2025-I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756028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</p:sp>
      <p:grpSp>
        <p:nvGrpSpPr>
          <p:cNvPr id="1211797217" name="Group 3"/>
          <p:cNvGrpSpPr/>
          <p:nvPr/>
        </p:nvGrpSpPr>
        <p:grpSpPr bwMode="auto">
          <a:xfrm rot="0">
            <a:off x="1837788" y="568825"/>
            <a:ext cx="7764682" cy="921888"/>
            <a:chOff x="0" y="0"/>
            <a:chExt cx="10352909" cy="122918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0352909" cy="1229184"/>
            </a:xfrm>
            <a:custGeom>
              <a:avLst/>
              <a:gdLst/>
              <a:ahLst/>
              <a:cxnLst/>
              <a:rect l="l" t="t" r="r" b="b"/>
              <a:pathLst>
                <a:path w="10352909" h="1229184" fill="norm" stroke="1" extrusionOk="0">
                  <a:moveTo>
                    <a:pt x="0" y="0"/>
                  </a:moveTo>
                  <a:lnTo>
                    <a:pt x="10352909" y="0"/>
                  </a:lnTo>
                  <a:lnTo>
                    <a:pt x="10352909" y="1229184"/>
                  </a:lnTo>
                  <a:lnTo>
                    <a:pt x="0" y="12291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9525"/>
              <a:ext cx="10352909" cy="1219659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4555"/>
                </a:lnSpc>
                <a:defRPr/>
              </a:pPr>
              <a:r>
                <a:rPr lang="en-US" sz="475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Int</a:t>
              </a:r>
              <a:r>
                <a:rPr lang="en-US" sz="475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roducción</a:t>
              </a:r>
              <a:endParaRPr/>
            </a:p>
          </p:txBody>
        </p:sp>
      </p:grpSp>
      <p:grpSp>
        <p:nvGrpSpPr>
          <p:cNvPr id="480517741" name="Group 6"/>
          <p:cNvGrpSpPr/>
          <p:nvPr/>
        </p:nvGrpSpPr>
        <p:grpSpPr bwMode="auto">
          <a:xfrm rot="0">
            <a:off x="9602472" y="0"/>
            <a:ext cx="659682" cy="10303477"/>
            <a:chOff x="0" y="0"/>
            <a:chExt cx="879576" cy="1373797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79602" cy="13737971"/>
            </a:xfrm>
            <a:custGeom>
              <a:avLst/>
              <a:gdLst/>
              <a:ahLst/>
              <a:cxnLst/>
              <a:rect l="l" t="t" r="r" b="b"/>
              <a:pathLst>
                <a:path w="879602" h="13737971" fill="norm" stroke="1" extrusionOk="0">
                  <a:moveTo>
                    <a:pt x="0" y="0"/>
                  </a:moveTo>
                  <a:lnTo>
                    <a:pt x="879602" y="0"/>
                  </a:lnTo>
                  <a:lnTo>
                    <a:pt x="879602" y="13737971"/>
                  </a:lnTo>
                  <a:lnTo>
                    <a:pt x="0" y="13737971"/>
                  </a:lnTo>
                  <a:close/>
                </a:path>
              </a:pathLst>
            </a:custGeom>
            <a:solidFill>
              <a:srgbClr val="1D417E"/>
            </a:solidFill>
          </p:spPr>
        </p:sp>
      </p:grpSp>
      <p:grpSp>
        <p:nvGrpSpPr>
          <p:cNvPr id="1966869508" name="Group 8"/>
          <p:cNvGrpSpPr>
            <a:grpSpLocks noChangeAspect="1"/>
          </p:cNvGrpSpPr>
          <p:nvPr/>
        </p:nvGrpSpPr>
        <p:grpSpPr bwMode="auto">
          <a:xfrm rot="0">
            <a:off x="10068114" y="-83151"/>
            <a:ext cx="8219886" cy="10303477"/>
            <a:chOff x="0" y="0"/>
            <a:chExt cx="10959848" cy="13737970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0959846" cy="13737971"/>
            </a:xfrm>
            <a:custGeom>
              <a:avLst/>
              <a:gdLst/>
              <a:ahLst/>
              <a:cxnLst/>
              <a:rect l="l" t="t" r="r" b="b"/>
              <a:pathLst>
                <a:path w="10959846" h="13737971" fill="norm" stroke="1" extrusionOk="0">
                  <a:moveTo>
                    <a:pt x="0" y="0"/>
                  </a:moveTo>
                  <a:lnTo>
                    <a:pt x="10959846" y="0"/>
                  </a:lnTo>
                  <a:lnTo>
                    <a:pt x="10959846" y="13737971"/>
                  </a:lnTo>
                  <a:lnTo>
                    <a:pt x="0" y="137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23407" t="0" r="23407" b="0"/>
              <a:stretch/>
            </a:blipFill>
          </p:spPr>
        </p:sp>
      </p:grpSp>
      <p:grpSp>
        <p:nvGrpSpPr>
          <p:cNvPr id="1212735333" name="Group 10"/>
          <p:cNvGrpSpPr>
            <a:grpSpLocks noChangeAspect="1"/>
          </p:cNvGrpSpPr>
          <p:nvPr/>
        </p:nvGrpSpPr>
        <p:grpSpPr bwMode="auto">
          <a:xfrm rot="0">
            <a:off x="14124560" y="8301966"/>
            <a:ext cx="4110630" cy="2001511"/>
            <a:chOff x="0" y="0"/>
            <a:chExt cx="5480840" cy="2668681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5480812" cy="2668651"/>
            </a:xfrm>
            <a:custGeom>
              <a:avLst/>
              <a:gdLst/>
              <a:ahLst/>
              <a:cxnLst/>
              <a:rect l="l" t="t" r="r" b="b"/>
              <a:pathLst>
                <a:path w="5480812" h="2668651" fill="norm" stroke="1" extrusionOk="0">
                  <a:moveTo>
                    <a:pt x="0" y="0"/>
                  </a:moveTo>
                  <a:lnTo>
                    <a:pt x="5480812" y="0"/>
                  </a:lnTo>
                  <a:lnTo>
                    <a:pt x="5480812" y="2668651"/>
                  </a:lnTo>
                  <a:lnTo>
                    <a:pt x="0" y="2668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46" t="0" r="47" b="0"/>
              <a:stretch/>
            </a:blipFill>
          </p:spPr>
        </p:sp>
      </p:grpSp>
      <p:sp>
        <p:nvSpPr>
          <p:cNvPr id="1133857710" name="TextBox 12"/>
          <p:cNvSpPr txBox="1"/>
          <p:nvPr/>
        </p:nvSpPr>
        <p:spPr bwMode="auto">
          <a:xfrm rot="0">
            <a:off x="846381" y="2107264"/>
            <a:ext cx="8297619" cy="582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3316" lvl="1" indent="-346658" algn="just">
              <a:lnSpc>
                <a:spcPts val="5089"/>
              </a:lnSpc>
              <a:buFont typeface="Arial"/>
              <a:buChar char="•"/>
              <a:defRPr/>
            </a:pPr>
            <a:r>
              <a:rPr lang="en-US" sz="3400">
                <a:solidFill>
                  <a:srgbClr val="010814"/>
                </a:solidFill>
                <a:latin typeface="Arial"/>
                <a:ea typeface="Arial"/>
                <a:cs typeface="Arial"/>
              </a:rPr>
              <a:t>Importancia de mantener vínculo activo con egresados para mejorar calidad educativa.</a:t>
            </a:r>
            <a:endParaRPr/>
          </a:p>
          <a:p>
            <a:pPr marL="693316" lvl="1" indent="-346658" algn="just">
              <a:lnSpc>
                <a:spcPts val="5089"/>
              </a:lnSpc>
              <a:buFont typeface="Arial"/>
              <a:buChar char="•"/>
              <a:defRPr/>
            </a:pPr>
            <a:r>
              <a:rPr lang="en-US" sz="3400">
                <a:solidFill>
                  <a:srgbClr val="010814"/>
                </a:solidFill>
                <a:latin typeface="Arial"/>
                <a:ea typeface="Arial"/>
                <a:cs typeface="Arial"/>
              </a:rPr>
              <a:t>Necesidad de conocer el desarrollo profesional postgrado.</a:t>
            </a:r>
            <a:endParaRPr/>
          </a:p>
          <a:p>
            <a:pPr marL="693316" lvl="1" indent="-346658" algn="just">
              <a:lnSpc>
                <a:spcPts val="5089"/>
              </a:lnSpc>
              <a:buFont typeface="Arial"/>
              <a:buChar char="•"/>
              <a:defRPr/>
            </a:pPr>
            <a:r>
              <a:rPr lang="en-US" sz="3400">
                <a:solidFill>
                  <a:srgbClr val="010814"/>
                </a:solidFill>
                <a:latin typeface="Arial"/>
                <a:ea typeface="Arial"/>
                <a:cs typeface="Arial"/>
              </a:rPr>
              <a:t>La retroalimentación de egresados fortalece la pertinencia de la oferta académica.</a:t>
            </a:r>
            <a:endParaRPr/>
          </a:p>
          <a:p>
            <a:pPr algn="just">
              <a:lnSpc>
                <a:spcPts val="5089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593712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</p:sp>
      <p:grpSp>
        <p:nvGrpSpPr>
          <p:cNvPr id="1190704815" name="Group 3"/>
          <p:cNvGrpSpPr/>
          <p:nvPr/>
        </p:nvGrpSpPr>
        <p:grpSpPr bwMode="auto">
          <a:xfrm rot="0">
            <a:off x="9932313" y="1129207"/>
            <a:ext cx="7764682" cy="921888"/>
            <a:chOff x="0" y="0"/>
            <a:chExt cx="10352909" cy="122918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0352909" cy="1229184"/>
            </a:xfrm>
            <a:custGeom>
              <a:avLst/>
              <a:gdLst/>
              <a:ahLst/>
              <a:cxnLst/>
              <a:rect l="l" t="t" r="r" b="b"/>
              <a:pathLst>
                <a:path w="10352909" h="1229184" fill="norm" stroke="1" extrusionOk="0">
                  <a:moveTo>
                    <a:pt x="0" y="0"/>
                  </a:moveTo>
                  <a:lnTo>
                    <a:pt x="10352909" y="0"/>
                  </a:lnTo>
                  <a:lnTo>
                    <a:pt x="10352909" y="1229184"/>
                  </a:lnTo>
                  <a:lnTo>
                    <a:pt x="0" y="12291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9525"/>
              <a:ext cx="10352909" cy="1219659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4555"/>
                </a:lnSpc>
                <a:defRPr/>
              </a:pPr>
              <a:r>
                <a:rPr lang="en-US" sz="475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Problema</a:t>
              </a:r>
              <a:endParaRPr/>
            </a:p>
          </p:txBody>
        </p:sp>
      </p:grpSp>
      <p:sp>
        <p:nvSpPr>
          <p:cNvPr id="1864927064" name="Freeform 6"/>
          <p:cNvSpPr/>
          <p:nvPr/>
        </p:nvSpPr>
        <p:spPr bwMode="auto">
          <a:xfrm rot="0" flipH="0" flipV="0">
            <a:off x="781099" y="1590151"/>
            <a:ext cx="6783655" cy="6783655"/>
          </a:xfrm>
          <a:custGeom>
            <a:avLst/>
            <a:gdLst/>
            <a:ahLst/>
            <a:cxnLst/>
            <a:rect l="l" t="t" r="r" b="b"/>
            <a:pathLst>
              <a:path w="6783655" h="6783655" fill="norm" stroke="1" extrusionOk="0">
                <a:moveTo>
                  <a:pt x="0" y="0"/>
                </a:moveTo>
                <a:lnTo>
                  <a:pt x="6783655" y="0"/>
                </a:lnTo>
                <a:lnTo>
                  <a:pt x="6783655" y="6783654"/>
                </a:lnTo>
                <a:lnTo>
                  <a:pt x="0" y="6783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</p:sp>
      <p:sp>
        <p:nvSpPr>
          <p:cNvPr id="198658856" name="TextBox 7"/>
          <p:cNvSpPr txBox="1"/>
          <p:nvPr/>
        </p:nvSpPr>
        <p:spPr bwMode="auto">
          <a:xfrm rot="0">
            <a:off x="7986935" y="2646304"/>
            <a:ext cx="9513933" cy="7311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2879" lvl="1" indent="-406439" algn="just">
              <a:lnSpc>
                <a:spcPts val="5270"/>
              </a:lnSpc>
              <a:buFont typeface="Arial"/>
              <a:buChar char="•"/>
              <a:defRPr/>
            </a:pPr>
            <a:r>
              <a:rPr lang="en-US" sz="375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Falta de un sistema adecuado para seguimiento limita la evaluación institucional.</a:t>
            </a:r>
            <a:endParaRPr/>
          </a:p>
          <a:p>
            <a:pPr marL="812879" lvl="1" indent="-406439" algn="just">
              <a:lnSpc>
                <a:spcPts val="5270"/>
              </a:lnSpc>
              <a:buFont typeface="Arial"/>
              <a:buChar char="•"/>
              <a:defRPr/>
            </a:pPr>
            <a:r>
              <a:rPr lang="en-US" sz="375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Dificultad para actualizar planes de estudio sin información real y actualizada.</a:t>
            </a:r>
            <a:endParaRPr/>
          </a:p>
          <a:p>
            <a:pPr marL="812879" lvl="1" indent="-406439" algn="just">
              <a:lnSpc>
                <a:spcPts val="5270"/>
              </a:lnSpc>
              <a:buFont typeface="Arial"/>
              <a:buChar char="•"/>
              <a:defRPr/>
            </a:pPr>
            <a:r>
              <a:rPr lang="en-US" sz="3750">
                <a:solidFill>
                  <a:srgbClr val="000000"/>
                </a:solidFill>
                <a:latin typeface="Arial"/>
                <a:ea typeface="Arial"/>
                <a:cs typeface="Arial"/>
              </a:rPr>
              <a:t>La ausencia de datos confiables dificulta la toma de decisiones estratégicas.</a:t>
            </a:r>
            <a:endParaRPr/>
          </a:p>
          <a:p>
            <a:pPr algn="just">
              <a:lnSpc>
                <a:spcPts val="5270"/>
              </a:lnSpc>
              <a:defRPr/>
            </a:pPr>
            <a:endParaRPr/>
          </a:p>
          <a:p>
            <a:pPr algn="just">
              <a:lnSpc>
                <a:spcPts val="5451"/>
              </a:lnSpc>
              <a:defRPr/>
            </a:pPr>
            <a:endParaRPr/>
          </a:p>
          <a:p>
            <a:pPr algn="just">
              <a:lnSpc>
                <a:spcPts val="4728"/>
              </a:lnSpc>
              <a:spcBef>
                <a:spcPts val="0"/>
              </a:spcBef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147881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</p:sp>
      <p:grpSp>
        <p:nvGrpSpPr>
          <p:cNvPr id="1498901501" name="Group 3"/>
          <p:cNvGrpSpPr/>
          <p:nvPr/>
        </p:nvGrpSpPr>
        <p:grpSpPr bwMode="auto">
          <a:xfrm rot="0">
            <a:off x="1830051" y="291623"/>
            <a:ext cx="7764682" cy="921888"/>
            <a:chOff x="0" y="0"/>
            <a:chExt cx="10352909" cy="122918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0352909" cy="1229184"/>
            </a:xfrm>
            <a:custGeom>
              <a:avLst/>
              <a:gdLst/>
              <a:ahLst/>
              <a:cxnLst/>
              <a:rect l="l" t="t" r="r" b="b"/>
              <a:pathLst>
                <a:path w="10352909" h="1229184" fill="norm" stroke="1" extrusionOk="0">
                  <a:moveTo>
                    <a:pt x="0" y="0"/>
                  </a:moveTo>
                  <a:lnTo>
                    <a:pt x="10352909" y="0"/>
                  </a:lnTo>
                  <a:lnTo>
                    <a:pt x="10352909" y="1229184"/>
                  </a:lnTo>
                  <a:lnTo>
                    <a:pt x="0" y="12291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9525"/>
              <a:ext cx="10352909" cy="1219659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4555"/>
                </a:lnSpc>
                <a:defRPr/>
              </a:pPr>
              <a:r>
                <a:rPr lang="en-US" sz="475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Árbol</a:t>
              </a:r>
              <a:r>
                <a:rPr lang="en-US" sz="475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 </a:t>
              </a:r>
              <a:r>
                <a:rPr lang="en-US" sz="475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de Problemas</a:t>
              </a:r>
              <a:endParaRPr/>
            </a:p>
          </p:txBody>
        </p:sp>
      </p:grpSp>
      <p:sp>
        <p:nvSpPr>
          <p:cNvPr id="1333582966" name="Freeform 6"/>
          <p:cNvSpPr/>
          <p:nvPr/>
        </p:nvSpPr>
        <p:spPr bwMode="auto">
          <a:xfrm rot="0" flipH="0" flipV="0">
            <a:off x="4325173" y="1138635"/>
            <a:ext cx="10794728" cy="8203993"/>
          </a:xfrm>
          <a:custGeom>
            <a:avLst/>
            <a:gdLst/>
            <a:ahLst/>
            <a:cxnLst/>
            <a:rect l="l" t="t" r="r" b="b"/>
            <a:pathLst>
              <a:path w="10794728" h="8203993" fill="norm" stroke="1" extrusionOk="0">
                <a:moveTo>
                  <a:pt x="0" y="0"/>
                </a:moveTo>
                <a:lnTo>
                  <a:pt x="10794728" y="0"/>
                </a:lnTo>
                <a:lnTo>
                  <a:pt x="10794728" y="8203993"/>
                </a:lnTo>
                <a:lnTo>
                  <a:pt x="0" y="8203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840015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</p:sp>
      <p:grpSp>
        <p:nvGrpSpPr>
          <p:cNvPr id="313555834" name="Group 3"/>
          <p:cNvGrpSpPr/>
          <p:nvPr/>
        </p:nvGrpSpPr>
        <p:grpSpPr bwMode="auto">
          <a:xfrm rot="0">
            <a:off x="1837788" y="568825"/>
            <a:ext cx="7764682" cy="921888"/>
            <a:chOff x="0" y="0"/>
            <a:chExt cx="10352909" cy="122918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0352909" cy="1229184"/>
            </a:xfrm>
            <a:custGeom>
              <a:avLst/>
              <a:gdLst/>
              <a:ahLst/>
              <a:cxnLst/>
              <a:rect l="l" t="t" r="r" b="b"/>
              <a:pathLst>
                <a:path w="10352909" h="1229184" fill="norm" stroke="1" extrusionOk="0">
                  <a:moveTo>
                    <a:pt x="0" y="0"/>
                  </a:moveTo>
                  <a:lnTo>
                    <a:pt x="10352909" y="0"/>
                  </a:lnTo>
                  <a:lnTo>
                    <a:pt x="10352909" y="1229184"/>
                  </a:lnTo>
                  <a:lnTo>
                    <a:pt x="0" y="12291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9525"/>
              <a:ext cx="10352909" cy="1219659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4555"/>
                </a:lnSpc>
                <a:defRPr/>
              </a:pPr>
              <a:r>
                <a:rPr lang="en-US" sz="475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Objetivo General</a:t>
              </a:r>
              <a:endParaRPr/>
            </a:p>
          </p:txBody>
        </p:sp>
      </p:grpSp>
      <p:grpSp>
        <p:nvGrpSpPr>
          <p:cNvPr id="1266561096" name="Group 6"/>
          <p:cNvGrpSpPr>
            <a:grpSpLocks noChangeAspect="1"/>
          </p:cNvGrpSpPr>
          <p:nvPr/>
        </p:nvGrpSpPr>
        <p:grpSpPr bwMode="auto">
          <a:xfrm rot="0">
            <a:off x="14124560" y="8301966"/>
            <a:ext cx="4110630" cy="2001511"/>
            <a:chOff x="0" y="0"/>
            <a:chExt cx="5480840" cy="266868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5480812" cy="2668651"/>
            </a:xfrm>
            <a:custGeom>
              <a:avLst/>
              <a:gdLst/>
              <a:ahLst/>
              <a:cxnLst/>
              <a:rect l="l" t="t" r="r" b="b"/>
              <a:pathLst>
                <a:path w="5480812" h="2668651" fill="norm" stroke="1" extrusionOk="0">
                  <a:moveTo>
                    <a:pt x="0" y="0"/>
                  </a:moveTo>
                  <a:lnTo>
                    <a:pt x="5480812" y="0"/>
                  </a:lnTo>
                  <a:lnTo>
                    <a:pt x="5480812" y="2668651"/>
                  </a:lnTo>
                  <a:lnTo>
                    <a:pt x="0" y="2668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46" t="0" r="47" b="0"/>
              <a:stretch/>
            </a:blipFill>
          </p:spPr>
        </p:sp>
      </p:grpSp>
      <p:grpSp>
        <p:nvGrpSpPr>
          <p:cNvPr id="69626836" name="Group 8"/>
          <p:cNvGrpSpPr/>
          <p:nvPr/>
        </p:nvGrpSpPr>
        <p:grpSpPr bwMode="auto">
          <a:xfrm rot="0">
            <a:off x="9801064" y="568825"/>
            <a:ext cx="7764682" cy="921888"/>
            <a:chOff x="0" y="0"/>
            <a:chExt cx="10352909" cy="1229184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0352909" cy="1229184"/>
            </a:xfrm>
            <a:custGeom>
              <a:avLst/>
              <a:gdLst/>
              <a:ahLst/>
              <a:cxnLst/>
              <a:rect l="l" t="t" r="r" b="b"/>
              <a:pathLst>
                <a:path w="10352909" h="1229184" fill="norm" stroke="1" extrusionOk="0">
                  <a:moveTo>
                    <a:pt x="0" y="0"/>
                  </a:moveTo>
                  <a:lnTo>
                    <a:pt x="10352909" y="0"/>
                  </a:lnTo>
                  <a:lnTo>
                    <a:pt x="10352909" y="1229184"/>
                  </a:lnTo>
                  <a:lnTo>
                    <a:pt x="0" y="12291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9525"/>
              <a:ext cx="10352909" cy="1219659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4555"/>
                </a:lnSpc>
                <a:defRPr/>
              </a:pPr>
              <a:r>
                <a:rPr lang="en-US" sz="4750" b="1">
                  <a:solidFill>
                    <a:srgbClr val="1D417E"/>
                  </a:solidFill>
                  <a:latin typeface="Arial Bold"/>
                  <a:ea typeface="Arial Bold"/>
                  <a:cs typeface="Arial Bold"/>
                </a:rPr>
                <a:t> Objetivos Específicos</a:t>
              </a:r>
              <a:endParaRPr/>
            </a:p>
          </p:txBody>
        </p:sp>
      </p:grpSp>
      <p:sp>
        <p:nvSpPr>
          <p:cNvPr id="1161710404" name="Freeform 11"/>
          <p:cNvSpPr/>
          <p:nvPr/>
        </p:nvSpPr>
        <p:spPr bwMode="auto">
          <a:xfrm rot="0" flipH="0" flipV="0">
            <a:off x="2681973" y="4962706"/>
            <a:ext cx="3619411" cy="3619411"/>
          </a:xfrm>
          <a:custGeom>
            <a:avLst/>
            <a:gdLst/>
            <a:ahLst/>
            <a:cxnLst/>
            <a:rect l="l" t="t" r="r" b="b"/>
            <a:pathLst>
              <a:path w="3619411" h="3619411" fill="norm" stroke="1" extrusionOk="0">
                <a:moveTo>
                  <a:pt x="0" y="0"/>
                </a:moveTo>
                <a:lnTo>
                  <a:pt x="3619410" y="0"/>
                </a:lnTo>
                <a:lnTo>
                  <a:pt x="3619410" y="3619410"/>
                </a:lnTo>
                <a:lnTo>
                  <a:pt x="0" y="3619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</p:sp>
      <p:sp>
        <p:nvSpPr>
          <p:cNvPr id="2125170968" name="Freeform 12"/>
          <p:cNvSpPr/>
          <p:nvPr/>
        </p:nvSpPr>
        <p:spPr bwMode="auto">
          <a:xfrm rot="0" flipH="0" flipV="0">
            <a:off x="11542363" y="5232141"/>
            <a:ext cx="3349975" cy="3349975"/>
          </a:xfrm>
          <a:custGeom>
            <a:avLst/>
            <a:gdLst/>
            <a:ahLst/>
            <a:cxnLst/>
            <a:rect l="l" t="t" r="r" b="b"/>
            <a:pathLst>
              <a:path w="3349975" h="3349975" fill="norm" stroke="1" extrusionOk="0">
                <a:moveTo>
                  <a:pt x="0" y="0"/>
                </a:moveTo>
                <a:lnTo>
                  <a:pt x="3349976" y="0"/>
                </a:lnTo>
                <a:lnTo>
                  <a:pt x="3349976" y="3349975"/>
                </a:lnTo>
                <a:lnTo>
                  <a:pt x="0" y="3349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</p:sp>
      <p:sp>
        <p:nvSpPr>
          <p:cNvPr id="1728680058" name="TextBox 13"/>
          <p:cNvSpPr txBox="1"/>
          <p:nvPr/>
        </p:nvSpPr>
        <p:spPr bwMode="auto">
          <a:xfrm rot="0">
            <a:off x="791535" y="2145582"/>
            <a:ext cx="7400286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  <a:defRPr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Desarr</a:t>
            </a: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</a:rPr>
              <a:t>ollar una aplicación web funcional, segura y fácil de usar para registrar y analizar la trayectoria profesional de los egresados de la carrera de Desarrollo de Software.</a:t>
            </a:r>
            <a:endParaRPr/>
          </a:p>
        </p:txBody>
      </p:sp>
      <p:sp>
        <p:nvSpPr>
          <p:cNvPr id="162222003" name="TextBox 14"/>
          <p:cNvSpPr txBox="1"/>
          <p:nvPr/>
        </p:nvSpPr>
        <p:spPr bwMode="auto">
          <a:xfrm rot="0">
            <a:off x="9144000" y="1628956"/>
            <a:ext cx="8646239" cy="333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053" lvl="1" indent="-277026" algn="just">
              <a:lnSpc>
                <a:spcPts val="3253"/>
              </a:lnSpc>
              <a:buFont typeface="Arial"/>
              <a:buChar char="•"/>
              <a:defRPr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Levant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ar y documentar requerimientos funcionales y no funcionales.</a:t>
            </a:r>
            <a:endParaRPr/>
          </a:p>
          <a:p>
            <a:pPr marL="554053" lvl="1" indent="-277026" algn="just">
              <a:lnSpc>
                <a:spcPts val="3253"/>
              </a:lnSpc>
              <a:buFont typeface="Arial"/>
              <a:buChar char="•"/>
              <a:defRPr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Diseñar la arquitectura y modelo de datos del sistema.</a:t>
            </a:r>
            <a:endParaRPr/>
          </a:p>
          <a:p>
            <a:pPr marL="554053" lvl="1" indent="-277026" algn="just">
              <a:lnSpc>
                <a:spcPts val="3253"/>
              </a:lnSpc>
              <a:buFont typeface="Arial"/>
              <a:buChar char="•"/>
              <a:defRPr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Implementar los módulos clave: autenticación, perfiles, encuestas, dashboard, mensajería.</a:t>
            </a:r>
            <a:endParaRPr/>
          </a:p>
          <a:p>
            <a:pPr marL="554053" lvl="1" indent="-277026" algn="just">
              <a:lnSpc>
                <a:spcPts val="3253"/>
              </a:lnSpc>
              <a:buFont typeface="Arial"/>
              <a:buChar char="•"/>
              <a:defRPr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Realizar pruebas de funcionalidad, seguridad y rendimiento.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11792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</p:sp>
      <p:grpSp>
        <p:nvGrpSpPr>
          <p:cNvPr id="1090237814" name="Group 3"/>
          <p:cNvGrpSpPr>
            <a:grpSpLocks noChangeAspect="1"/>
          </p:cNvGrpSpPr>
          <p:nvPr/>
        </p:nvGrpSpPr>
        <p:grpSpPr bwMode="auto">
          <a:xfrm rot="0">
            <a:off x="14124560" y="8301966"/>
            <a:ext cx="4110630" cy="2001511"/>
            <a:chOff x="0" y="0"/>
            <a:chExt cx="5480840" cy="266868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5480812" cy="2668651"/>
            </a:xfrm>
            <a:custGeom>
              <a:avLst/>
              <a:gdLst/>
              <a:ahLst/>
              <a:cxnLst/>
              <a:rect l="l" t="t" r="r" b="b"/>
              <a:pathLst>
                <a:path w="5480812" h="2668651" fill="norm" stroke="1" extrusionOk="0">
                  <a:moveTo>
                    <a:pt x="0" y="0"/>
                  </a:moveTo>
                  <a:lnTo>
                    <a:pt x="5480812" y="0"/>
                  </a:lnTo>
                  <a:lnTo>
                    <a:pt x="5480812" y="2668651"/>
                  </a:lnTo>
                  <a:lnTo>
                    <a:pt x="0" y="2668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46" t="0" r="47" b="0"/>
              <a:stretch/>
            </a:blipFill>
          </p:spPr>
        </p:sp>
      </p:grpSp>
      <p:sp>
        <p:nvSpPr>
          <p:cNvPr id="1659025210" name="TextBox 5"/>
          <p:cNvSpPr txBox="1"/>
          <p:nvPr/>
        </p:nvSpPr>
        <p:spPr bwMode="auto">
          <a:xfrm rot="0">
            <a:off x="3092314" y="692909"/>
            <a:ext cx="11863653" cy="643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2"/>
              </a:lnSpc>
              <a:defRPr/>
            </a:pPr>
            <a:r>
              <a:rPr lang="en-US" sz="40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METODOLOGIA Y STACK TECNOLOGICO</a:t>
            </a:r>
            <a:endParaRPr/>
          </a:p>
        </p:txBody>
      </p:sp>
      <p:pic>
        <p:nvPicPr>
          <p:cNvPr id="86879300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0" y="0"/>
            <a:ext cx="18307372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092047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</p:sp>
      <p:grpSp>
        <p:nvGrpSpPr>
          <p:cNvPr id="1403667015" name="Group 3"/>
          <p:cNvGrpSpPr>
            <a:grpSpLocks noChangeAspect="1"/>
          </p:cNvGrpSpPr>
          <p:nvPr/>
        </p:nvGrpSpPr>
        <p:grpSpPr bwMode="auto">
          <a:xfrm rot="0">
            <a:off x="9258300" y="5734316"/>
            <a:ext cx="3996628" cy="1946002"/>
            <a:chOff x="0" y="0"/>
            <a:chExt cx="5480840" cy="266868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5480812" cy="2668651"/>
            </a:xfrm>
            <a:custGeom>
              <a:avLst/>
              <a:gdLst/>
              <a:ahLst/>
              <a:cxnLst/>
              <a:rect l="l" t="t" r="r" b="b"/>
              <a:pathLst>
                <a:path w="5480812" h="2668651" fill="norm" stroke="1" extrusionOk="0">
                  <a:moveTo>
                    <a:pt x="0" y="0"/>
                  </a:moveTo>
                  <a:lnTo>
                    <a:pt x="5480812" y="0"/>
                  </a:lnTo>
                  <a:lnTo>
                    <a:pt x="5480812" y="2668651"/>
                  </a:lnTo>
                  <a:lnTo>
                    <a:pt x="0" y="2668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8410" t="0" r="8410" b="0"/>
              <a:stretch/>
            </a:blipFill>
          </p:spPr>
        </p:sp>
      </p:grpSp>
      <p:grpSp>
        <p:nvGrpSpPr>
          <p:cNvPr id="553290235" name="Group 5"/>
          <p:cNvGrpSpPr/>
          <p:nvPr/>
        </p:nvGrpSpPr>
        <p:grpSpPr bwMode="auto">
          <a:xfrm rot="0">
            <a:off x="1631782" y="2831711"/>
            <a:ext cx="3987777" cy="560995"/>
            <a:chOff x="0" y="0"/>
            <a:chExt cx="1050279" cy="147752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1050279" cy="147752"/>
            </a:xfrm>
            <a:custGeom>
              <a:avLst/>
              <a:gdLst/>
              <a:ahLst/>
              <a:cxnLst/>
              <a:rect l="l" t="t" r="r" b="b"/>
              <a:pathLst>
                <a:path w="1050279" h="147752" fill="norm" stroke="1" extrusionOk="0">
                  <a:moveTo>
                    <a:pt x="0" y="0"/>
                  </a:moveTo>
                  <a:lnTo>
                    <a:pt x="1050279" y="0"/>
                  </a:lnTo>
                  <a:lnTo>
                    <a:pt x="1050279" y="147752"/>
                  </a:lnTo>
                  <a:lnTo>
                    <a:pt x="0" y="147752"/>
                  </a:lnTo>
                  <a:close/>
                </a:path>
              </a:pathLst>
            </a:custGeom>
            <a:solidFill>
              <a:srgbClr val="94AFDF"/>
            </a:solidFill>
          </p:spPr>
        </p:sp>
        <p:sp>
          <p:nvSpPr>
            <p:cNvPr id="7" name="TextBox 7"/>
            <p:cNvSpPr txBox="1"/>
            <p:nvPr/>
          </p:nvSpPr>
          <p:spPr bwMode="auto">
            <a:xfrm>
              <a:off x="0" y="-38100"/>
              <a:ext cx="1050279" cy="18585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r>
                <a:rPr lang="en-US" sz="1900">
                  <a:solidFill>
                    <a:srgbClr val="FFFFFF"/>
                  </a:solidFill>
                  <a:latin typeface="Open Sans"/>
                  <a:ea typeface="Open Sans"/>
                  <a:cs typeface="Open Sans"/>
                </a:rPr>
                <a:t>Análisis</a:t>
              </a:r>
              <a:endParaRPr/>
            </a:p>
          </p:txBody>
        </p:sp>
      </p:grpSp>
      <p:grpSp>
        <p:nvGrpSpPr>
          <p:cNvPr id="488550778" name="Group 8"/>
          <p:cNvGrpSpPr/>
          <p:nvPr/>
        </p:nvGrpSpPr>
        <p:grpSpPr bwMode="auto">
          <a:xfrm rot="0">
            <a:off x="1625265" y="5113729"/>
            <a:ext cx="3987777" cy="560995"/>
            <a:chOff x="0" y="0"/>
            <a:chExt cx="1050279" cy="147752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050279" cy="147752"/>
            </a:xfrm>
            <a:custGeom>
              <a:avLst/>
              <a:gdLst/>
              <a:ahLst/>
              <a:cxnLst/>
              <a:rect l="l" t="t" r="r" b="b"/>
              <a:pathLst>
                <a:path w="1050279" h="147752" fill="norm" stroke="1" extrusionOk="0">
                  <a:moveTo>
                    <a:pt x="0" y="0"/>
                  </a:moveTo>
                  <a:lnTo>
                    <a:pt x="1050279" y="0"/>
                  </a:lnTo>
                  <a:lnTo>
                    <a:pt x="1050279" y="147752"/>
                  </a:lnTo>
                  <a:lnTo>
                    <a:pt x="0" y="147752"/>
                  </a:lnTo>
                  <a:close/>
                </a:path>
              </a:pathLst>
            </a:custGeom>
            <a:solidFill>
              <a:srgbClr val="94AFDF"/>
            </a:solid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38100"/>
              <a:ext cx="1050279" cy="18585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r>
                <a:rPr lang="en-US" sz="1900">
                  <a:solidFill>
                    <a:srgbClr val="FFFFFF"/>
                  </a:solidFill>
                  <a:latin typeface="Open Sans"/>
                  <a:ea typeface="Open Sans"/>
                  <a:cs typeface="Open Sans"/>
                </a:rPr>
                <a:t>Desarrollo</a:t>
              </a:r>
              <a:endParaRPr/>
            </a:p>
          </p:txBody>
        </p:sp>
      </p:grpSp>
      <p:grpSp>
        <p:nvGrpSpPr>
          <p:cNvPr id="598816155" name="Group 11"/>
          <p:cNvGrpSpPr/>
          <p:nvPr/>
        </p:nvGrpSpPr>
        <p:grpSpPr bwMode="auto">
          <a:xfrm rot="0">
            <a:off x="1631782" y="6331949"/>
            <a:ext cx="3987777" cy="560995"/>
            <a:chOff x="0" y="0"/>
            <a:chExt cx="1050279" cy="147752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050279" cy="147752"/>
            </a:xfrm>
            <a:custGeom>
              <a:avLst/>
              <a:gdLst/>
              <a:ahLst/>
              <a:cxnLst/>
              <a:rect l="l" t="t" r="r" b="b"/>
              <a:pathLst>
                <a:path w="1050279" h="147752" fill="norm" stroke="1" extrusionOk="0">
                  <a:moveTo>
                    <a:pt x="0" y="0"/>
                  </a:moveTo>
                  <a:lnTo>
                    <a:pt x="1050279" y="0"/>
                  </a:lnTo>
                  <a:lnTo>
                    <a:pt x="1050279" y="147752"/>
                  </a:lnTo>
                  <a:lnTo>
                    <a:pt x="0" y="147752"/>
                  </a:lnTo>
                  <a:close/>
                </a:path>
              </a:pathLst>
            </a:custGeom>
            <a:solidFill>
              <a:srgbClr val="94AFDF"/>
            </a:solid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050279" cy="18585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r>
                <a:rPr lang="en-US" sz="1900">
                  <a:solidFill>
                    <a:srgbClr val="FFFFFF"/>
                  </a:solidFill>
                  <a:latin typeface="Open Sans"/>
                  <a:ea typeface="Open Sans"/>
                  <a:cs typeface="Open Sans"/>
                </a:rPr>
                <a:t>Implementación</a:t>
              </a:r>
              <a:endParaRPr/>
            </a:p>
          </p:txBody>
        </p:sp>
      </p:grpSp>
      <p:grpSp>
        <p:nvGrpSpPr>
          <p:cNvPr id="2010992547" name="Group 14"/>
          <p:cNvGrpSpPr/>
          <p:nvPr/>
        </p:nvGrpSpPr>
        <p:grpSpPr bwMode="auto">
          <a:xfrm rot="0">
            <a:off x="1625265" y="7528677"/>
            <a:ext cx="3987777" cy="560995"/>
            <a:chOff x="0" y="0"/>
            <a:chExt cx="1050279" cy="147752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1050279" cy="147752"/>
            </a:xfrm>
            <a:custGeom>
              <a:avLst/>
              <a:gdLst/>
              <a:ahLst/>
              <a:cxnLst/>
              <a:rect l="l" t="t" r="r" b="b"/>
              <a:pathLst>
                <a:path w="1050279" h="147752" fill="norm" stroke="1" extrusionOk="0">
                  <a:moveTo>
                    <a:pt x="0" y="0"/>
                  </a:moveTo>
                  <a:lnTo>
                    <a:pt x="1050279" y="0"/>
                  </a:lnTo>
                  <a:lnTo>
                    <a:pt x="1050279" y="147752"/>
                  </a:lnTo>
                  <a:lnTo>
                    <a:pt x="0" y="147752"/>
                  </a:lnTo>
                  <a:close/>
                </a:path>
              </a:pathLst>
            </a:custGeom>
            <a:solidFill>
              <a:srgbClr val="94AFDF"/>
            </a:solidFill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0" y="-38100"/>
              <a:ext cx="1050279" cy="18585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r>
                <a:rPr lang="en-US" sz="1900">
                  <a:solidFill>
                    <a:srgbClr val="FFFFFF"/>
                  </a:solidFill>
                  <a:latin typeface="Open Sans"/>
                  <a:ea typeface="Open Sans"/>
                  <a:cs typeface="Open Sans"/>
                </a:rPr>
                <a:t>Evaluación</a:t>
              </a:r>
              <a:endParaRPr/>
            </a:p>
          </p:txBody>
        </p:sp>
      </p:grpSp>
      <p:grpSp>
        <p:nvGrpSpPr>
          <p:cNvPr id="778272269" name="Group 17"/>
          <p:cNvGrpSpPr/>
          <p:nvPr/>
        </p:nvGrpSpPr>
        <p:grpSpPr bwMode="auto">
          <a:xfrm rot="0">
            <a:off x="1540367" y="3961323"/>
            <a:ext cx="3987777" cy="560995"/>
            <a:chOff x="0" y="0"/>
            <a:chExt cx="1050279" cy="147752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1050279" cy="147752"/>
            </a:xfrm>
            <a:custGeom>
              <a:avLst/>
              <a:gdLst/>
              <a:ahLst/>
              <a:cxnLst/>
              <a:rect l="l" t="t" r="r" b="b"/>
              <a:pathLst>
                <a:path w="1050279" h="147752" fill="norm" stroke="1" extrusionOk="0">
                  <a:moveTo>
                    <a:pt x="0" y="0"/>
                  </a:moveTo>
                  <a:lnTo>
                    <a:pt x="1050279" y="0"/>
                  </a:lnTo>
                  <a:lnTo>
                    <a:pt x="1050279" y="147752"/>
                  </a:lnTo>
                  <a:lnTo>
                    <a:pt x="0" y="147752"/>
                  </a:lnTo>
                  <a:close/>
                </a:path>
              </a:pathLst>
            </a:custGeom>
            <a:solidFill>
              <a:srgbClr val="94AFDF"/>
            </a:solidFill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0" y="-38100"/>
              <a:ext cx="1050279" cy="18585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r>
                <a:rPr lang="en-US" sz="1900">
                  <a:solidFill>
                    <a:srgbClr val="FFFFFF"/>
                  </a:solidFill>
                  <a:latin typeface="Open Sans"/>
                  <a:ea typeface="Open Sans"/>
                  <a:cs typeface="Open Sans"/>
                </a:rPr>
                <a:t>Diseño</a:t>
              </a:r>
              <a:endParaRPr/>
            </a:p>
          </p:txBody>
        </p:sp>
      </p:grpSp>
      <p:grpSp>
        <p:nvGrpSpPr>
          <p:cNvPr id="1971762467" name="Group 20"/>
          <p:cNvGrpSpPr/>
          <p:nvPr/>
        </p:nvGrpSpPr>
        <p:grpSpPr bwMode="auto">
          <a:xfrm rot="5400000">
            <a:off x="917093" y="2870635"/>
            <a:ext cx="860912" cy="596565"/>
            <a:chOff x="0" y="0"/>
            <a:chExt cx="998932" cy="692205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998932" cy="692205"/>
            </a:xfrm>
            <a:custGeom>
              <a:avLst/>
              <a:gdLst/>
              <a:ahLst/>
              <a:cxnLst/>
              <a:rect l="l" t="t" r="r" b="b"/>
              <a:pathLst>
                <a:path w="998932" h="692205" fill="norm" stroke="1" extrusionOk="0">
                  <a:moveTo>
                    <a:pt x="0" y="0"/>
                  </a:moveTo>
                  <a:lnTo>
                    <a:pt x="795732" y="0"/>
                  </a:lnTo>
                  <a:lnTo>
                    <a:pt x="998932" y="346103"/>
                  </a:lnTo>
                  <a:lnTo>
                    <a:pt x="795732" y="692205"/>
                  </a:lnTo>
                  <a:lnTo>
                    <a:pt x="0" y="692205"/>
                  </a:lnTo>
                  <a:lnTo>
                    <a:pt x="203200" y="346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4289"/>
            </a:solid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177800" y="-38100"/>
              <a:ext cx="744932" cy="7303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767933404" name="Group 23"/>
          <p:cNvGrpSpPr/>
          <p:nvPr/>
        </p:nvGrpSpPr>
        <p:grpSpPr bwMode="auto">
          <a:xfrm rot="5400000">
            <a:off x="860241" y="3996725"/>
            <a:ext cx="860912" cy="596565"/>
            <a:chOff x="0" y="0"/>
            <a:chExt cx="998932" cy="692205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998932" cy="692205"/>
            </a:xfrm>
            <a:custGeom>
              <a:avLst/>
              <a:gdLst/>
              <a:ahLst/>
              <a:cxnLst/>
              <a:rect l="l" t="t" r="r" b="b"/>
              <a:pathLst>
                <a:path w="998932" h="692205" fill="norm" stroke="1" extrusionOk="0">
                  <a:moveTo>
                    <a:pt x="0" y="0"/>
                  </a:moveTo>
                  <a:lnTo>
                    <a:pt x="795732" y="0"/>
                  </a:lnTo>
                  <a:lnTo>
                    <a:pt x="998932" y="346103"/>
                  </a:lnTo>
                  <a:lnTo>
                    <a:pt x="795732" y="692205"/>
                  </a:lnTo>
                  <a:lnTo>
                    <a:pt x="0" y="692205"/>
                  </a:lnTo>
                  <a:lnTo>
                    <a:pt x="203200" y="346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4289"/>
            </a:solidFill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177800" y="-38100"/>
              <a:ext cx="744932" cy="7303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292182781" name="Group 26"/>
          <p:cNvGrpSpPr/>
          <p:nvPr/>
        </p:nvGrpSpPr>
        <p:grpSpPr bwMode="auto">
          <a:xfrm rot="5400000">
            <a:off x="896527" y="5120865"/>
            <a:ext cx="860912" cy="596565"/>
            <a:chOff x="0" y="0"/>
            <a:chExt cx="998932" cy="692205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998932" cy="692205"/>
            </a:xfrm>
            <a:custGeom>
              <a:avLst/>
              <a:gdLst/>
              <a:ahLst/>
              <a:cxnLst/>
              <a:rect l="l" t="t" r="r" b="b"/>
              <a:pathLst>
                <a:path w="998932" h="692205" fill="norm" stroke="1" extrusionOk="0">
                  <a:moveTo>
                    <a:pt x="0" y="0"/>
                  </a:moveTo>
                  <a:lnTo>
                    <a:pt x="795732" y="0"/>
                  </a:lnTo>
                  <a:lnTo>
                    <a:pt x="998932" y="346103"/>
                  </a:lnTo>
                  <a:lnTo>
                    <a:pt x="795732" y="692205"/>
                  </a:lnTo>
                  <a:lnTo>
                    <a:pt x="0" y="692205"/>
                  </a:lnTo>
                  <a:lnTo>
                    <a:pt x="203200" y="346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4289"/>
            </a:solidFill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177800" y="-38100"/>
              <a:ext cx="744932" cy="7303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396085849" name="Group 29"/>
          <p:cNvGrpSpPr/>
          <p:nvPr/>
        </p:nvGrpSpPr>
        <p:grpSpPr bwMode="auto">
          <a:xfrm rot="5400000">
            <a:off x="896527" y="6314164"/>
            <a:ext cx="860912" cy="596565"/>
            <a:chOff x="0" y="0"/>
            <a:chExt cx="998932" cy="692205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998932" cy="692205"/>
            </a:xfrm>
            <a:custGeom>
              <a:avLst/>
              <a:gdLst/>
              <a:ahLst/>
              <a:cxnLst/>
              <a:rect l="l" t="t" r="r" b="b"/>
              <a:pathLst>
                <a:path w="998932" h="692205" fill="norm" stroke="1" extrusionOk="0">
                  <a:moveTo>
                    <a:pt x="0" y="0"/>
                  </a:moveTo>
                  <a:lnTo>
                    <a:pt x="795732" y="0"/>
                  </a:lnTo>
                  <a:lnTo>
                    <a:pt x="998932" y="346103"/>
                  </a:lnTo>
                  <a:lnTo>
                    <a:pt x="795732" y="692205"/>
                  </a:lnTo>
                  <a:lnTo>
                    <a:pt x="0" y="692205"/>
                  </a:lnTo>
                  <a:lnTo>
                    <a:pt x="203200" y="346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4289"/>
            </a:solidFill>
          </p:spPr>
        </p:sp>
        <p:sp>
          <p:nvSpPr>
            <p:cNvPr id="31" name="TextBox 31"/>
            <p:cNvSpPr txBox="1"/>
            <p:nvPr/>
          </p:nvSpPr>
          <p:spPr bwMode="auto">
            <a:xfrm>
              <a:off x="177800" y="-38100"/>
              <a:ext cx="744932" cy="7303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540496308" name="Group 32"/>
          <p:cNvGrpSpPr/>
          <p:nvPr/>
        </p:nvGrpSpPr>
        <p:grpSpPr bwMode="auto">
          <a:xfrm rot="5400000">
            <a:off x="903044" y="7524139"/>
            <a:ext cx="860912" cy="596565"/>
            <a:chOff x="0" y="0"/>
            <a:chExt cx="998932" cy="692205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998932" cy="692205"/>
            </a:xfrm>
            <a:custGeom>
              <a:avLst/>
              <a:gdLst/>
              <a:ahLst/>
              <a:cxnLst/>
              <a:rect l="l" t="t" r="r" b="b"/>
              <a:pathLst>
                <a:path w="998932" h="692205" fill="norm" stroke="1" extrusionOk="0">
                  <a:moveTo>
                    <a:pt x="0" y="0"/>
                  </a:moveTo>
                  <a:lnTo>
                    <a:pt x="795732" y="0"/>
                  </a:lnTo>
                  <a:lnTo>
                    <a:pt x="998932" y="346103"/>
                  </a:lnTo>
                  <a:lnTo>
                    <a:pt x="795732" y="692205"/>
                  </a:lnTo>
                  <a:lnTo>
                    <a:pt x="0" y="692205"/>
                  </a:lnTo>
                  <a:lnTo>
                    <a:pt x="203200" y="346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4289"/>
            </a:solidFill>
          </p:spPr>
        </p:sp>
        <p:sp>
          <p:nvSpPr>
            <p:cNvPr id="34" name="TextBox 34"/>
            <p:cNvSpPr txBox="1"/>
            <p:nvPr/>
          </p:nvSpPr>
          <p:spPr bwMode="auto">
            <a:xfrm>
              <a:off x="177800" y="-38100"/>
              <a:ext cx="744932" cy="7303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939974142" name="Freeform 35"/>
          <p:cNvSpPr/>
          <p:nvPr/>
        </p:nvSpPr>
        <p:spPr bwMode="auto">
          <a:xfrm rot="0" flipH="0" flipV="0">
            <a:off x="6599014" y="3377337"/>
            <a:ext cx="2554510" cy="2371247"/>
          </a:xfrm>
          <a:custGeom>
            <a:avLst/>
            <a:gdLst/>
            <a:ahLst/>
            <a:cxnLst/>
            <a:rect l="l" t="t" r="r" b="b"/>
            <a:pathLst>
              <a:path w="2554510" h="2371247" fill="norm" stroke="1" extrusionOk="0">
                <a:moveTo>
                  <a:pt x="0" y="0"/>
                </a:moveTo>
                <a:lnTo>
                  <a:pt x="2554510" y="0"/>
                </a:lnTo>
                <a:lnTo>
                  <a:pt x="2554510" y="2371247"/>
                </a:lnTo>
                <a:lnTo>
                  <a:pt x="0" y="23712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19909" t="0" r="23455" b="12381"/>
            <a:stretch/>
          </a:blipFill>
        </p:spPr>
      </p:sp>
      <p:sp>
        <p:nvSpPr>
          <p:cNvPr id="2112048147" name="Freeform 36"/>
          <p:cNvSpPr/>
          <p:nvPr/>
        </p:nvSpPr>
        <p:spPr bwMode="auto">
          <a:xfrm rot="0" flipH="0" flipV="0">
            <a:off x="6526535" y="5734316"/>
            <a:ext cx="2251895" cy="2652637"/>
          </a:xfrm>
          <a:custGeom>
            <a:avLst/>
            <a:gdLst/>
            <a:ahLst/>
            <a:cxnLst/>
            <a:rect l="l" t="t" r="r" b="b"/>
            <a:pathLst>
              <a:path w="2251895" h="2652637" fill="norm" stroke="1" extrusionOk="0">
                <a:moveTo>
                  <a:pt x="0" y="0"/>
                </a:moveTo>
                <a:lnTo>
                  <a:pt x="2251895" y="0"/>
                </a:lnTo>
                <a:lnTo>
                  <a:pt x="2251895" y="2652637"/>
                </a:lnTo>
                <a:lnTo>
                  <a:pt x="0" y="26526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18409" r="24987" b="0"/>
            <a:stretch/>
          </a:blipFill>
        </p:spPr>
      </p:sp>
      <p:sp>
        <p:nvSpPr>
          <p:cNvPr id="317450093" name="Freeform 37"/>
          <p:cNvSpPr/>
          <p:nvPr/>
        </p:nvSpPr>
        <p:spPr bwMode="auto">
          <a:xfrm rot="0" flipH="0" flipV="0">
            <a:off x="11533986" y="3274913"/>
            <a:ext cx="3816367" cy="2125717"/>
          </a:xfrm>
          <a:custGeom>
            <a:avLst/>
            <a:gdLst/>
            <a:ahLst/>
            <a:cxnLst/>
            <a:rect l="l" t="t" r="r" b="b"/>
            <a:pathLst>
              <a:path w="3816367" h="2125717" fill="norm" stroke="1" extrusionOk="0">
                <a:moveTo>
                  <a:pt x="0" y="0"/>
                </a:moveTo>
                <a:lnTo>
                  <a:pt x="3816366" y="0"/>
                </a:lnTo>
                <a:lnTo>
                  <a:pt x="3816366" y="2125717"/>
                </a:lnTo>
                <a:lnTo>
                  <a:pt x="0" y="21257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1354" t="0" r="4390" b="0"/>
            <a:stretch/>
          </a:blipFill>
        </p:spPr>
      </p:sp>
      <p:sp>
        <p:nvSpPr>
          <p:cNvPr id="1530786717" name="Freeform 38"/>
          <p:cNvSpPr/>
          <p:nvPr/>
        </p:nvSpPr>
        <p:spPr bwMode="auto">
          <a:xfrm rot="0" flipH="0" flipV="0">
            <a:off x="13614238" y="5734316"/>
            <a:ext cx="3817895" cy="1931734"/>
          </a:xfrm>
          <a:custGeom>
            <a:avLst/>
            <a:gdLst/>
            <a:ahLst/>
            <a:cxnLst/>
            <a:rect l="l" t="t" r="r" b="b"/>
            <a:pathLst>
              <a:path w="3817895" h="1931734" fill="norm" stroke="1" extrusionOk="0">
                <a:moveTo>
                  <a:pt x="0" y="0"/>
                </a:moveTo>
                <a:lnTo>
                  <a:pt x="3817895" y="0"/>
                </a:lnTo>
                <a:lnTo>
                  <a:pt x="3817895" y="1931734"/>
                </a:lnTo>
                <a:lnTo>
                  <a:pt x="0" y="1931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3924" t="0" r="3924" b="0"/>
            <a:stretch/>
          </a:blipFill>
        </p:spPr>
      </p:sp>
      <p:sp>
        <p:nvSpPr>
          <p:cNvPr id="1527129112" name="TextBox 39"/>
          <p:cNvSpPr txBox="1"/>
          <p:nvPr/>
        </p:nvSpPr>
        <p:spPr bwMode="auto">
          <a:xfrm rot="0">
            <a:off x="1946512" y="1197734"/>
            <a:ext cx="14394977" cy="1540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8527" lvl="1" indent="-239263" algn="just">
              <a:lnSpc>
                <a:spcPts val="3103"/>
              </a:lnSpc>
              <a:buFont typeface="Arial"/>
              <a:buChar char="•"/>
              <a:defRPr/>
            </a:pPr>
            <a:r>
              <a:rPr lang="en-US" sz="2200" b="1">
                <a:solidFill>
                  <a:srgbClr val="010814"/>
                </a:solidFill>
                <a:latin typeface="Arial Bold"/>
                <a:ea typeface="Arial Bold"/>
                <a:cs typeface="Arial Bold"/>
              </a:rPr>
              <a:t>ADDIE es un método que ayuda a crear proyectos paso a paso, con cinco fases: Análisis, Diseño, Desarro</a:t>
            </a:r>
            <a:r>
              <a:rPr lang="en-US" sz="2200" b="1">
                <a:solidFill>
                  <a:srgbClr val="010814"/>
                </a:solidFill>
                <a:latin typeface="Arial Bold"/>
                <a:ea typeface="Arial Bold"/>
                <a:cs typeface="Arial Bold"/>
              </a:rPr>
              <a:t>llo, Implementación y Evaluación. Así</a:t>
            </a:r>
            <a:r>
              <a:rPr lang="en-US" sz="2200" b="1">
                <a:solidFill>
                  <a:srgbClr val="010814"/>
                </a:solidFill>
                <a:latin typeface="Arial Bold"/>
                <a:ea typeface="Arial Bold"/>
                <a:cs typeface="Arial Bold"/>
              </a:rPr>
              <a:t> se asegura que el proyecto cumpla con lo que se necesita</a:t>
            </a:r>
            <a:endParaRPr/>
          </a:p>
          <a:p>
            <a:pPr algn="l">
              <a:lnSpc>
                <a:spcPts val="2403"/>
              </a:lnSpc>
              <a:defRPr/>
            </a:pPr>
            <a:endParaRPr/>
          </a:p>
        </p:txBody>
      </p:sp>
      <p:sp>
        <p:nvSpPr>
          <p:cNvPr id="797109283" name="TextBox 40"/>
          <p:cNvSpPr txBox="1"/>
          <p:nvPr/>
        </p:nvSpPr>
        <p:spPr bwMode="auto">
          <a:xfrm rot="0">
            <a:off x="2095727" y="726215"/>
            <a:ext cx="11863653" cy="643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2"/>
              </a:lnSpc>
              <a:defRPr/>
            </a:pPr>
            <a:r>
              <a:rPr lang="en-US" sz="40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METODOLOGIA</a:t>
            </a:r>
            <a:endParaRPr/>
          </a:p>
        </p:txBody>
      </p:sp>
      <p:sp>
        <p:nvSpPr>
          <p:cNvPr id="548061489" name="TextBox 41"/>
          <p:cNvSpPr txBox="1"/>
          <p:nvPr/>
        </p:nvSpPr>
        <p:spPr bwMode="auto">
          <a:xfrm rot="0">
            <a:off x="6634320" y="2473918"/>
            <a:ext cx="1785541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defRPr/>
            </a:pPr>
            <a:r>
              <a:rPr lang="en-US" sz="3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Diseño;</a:t>
            </a:r>
            <a:endParaRPr/>
          </a:p>
        </p:txBody>
      </p:sp>
      <p:sp>
        <p:nvSpPr>
          <p:cNvPr id="266433606" name="TextBox 42"/>
          <p:cNvSpPr txBox="1"/>
          <p:nvPr/>
        </p:nvSpPr>
        <p:spPr bwMode="auto">
          <a:xfrm rot="0">
            <a:off x="1154730" y="2749508"/>
            <a:ext cx="385638" cy="75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1"/>
              </a:lnSpc>
              <a:defRPr/>
            </a:pPr>
            <a:r>
              <a:rPr lang="en-US" sz="4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</a:rPr>
              <a:t>A</a:t>
            </a:r>
            <a:endParaRPr/>
          </a:p>
        </p:txBody>
      </p:sp>
      <p:sp>
        <p:nvSpPr>
          <p:cNvPr id="101416698" name="TextBox 43"/>
          <p:cNvSpPr txBox="1"/>
          <p:nvPr/>
        </p:nvSpPr>
        <p:spPr bwMode="auto">
          <a:xfrm rot="0">
            <a:off x="1126632" y="3875598"/>
            <a:ext cx="413736" cy="75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1"/>
              </a:lnSpc>
              <a:defRPr/>
            </a:pPr>
            <a:r>
              <a:rPr lang="en-US" sz="4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</a:rPr>
              <a:t>D</a:t>
            </a:r>
            <a:endParaRPr/>
          </a:p>
        </p:txBody>
      </p:sp>
      <p:sp>
        <p:nvSpPr>
          <p:cNvPr id="770531914" name="TextBox 44"/>
          <p:cNvSpPr txBox="1"/>
          <p:nvPr/>
        </p:nvSpPr>
        <p:spPr bwMode="auto">
          <a:xfrm rot="0">
            <a:off x="1106065" y="4981222"/>
            <a:ext cx="413736" cy="75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1"/>
              </a:lnSpc>
              <a:defRPr/>
            </a:pPr>
            <a:r>
              <a:rPr lang="en-US" sz="4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</a:rPr>
              <a:t>D</a:t>
            </a:r>
            <a:endParaRPr/>
          </a:p>
        </p:txBody>
      </p:sp>
      <p:sp>
        <p:nvSpPr>
          <p:cNvPr id="1137520194" name="TextBox 45"/>
          <p:cNvSpPr txBox="1"/>
          <p:nvPr/>
        </p:nvSpPr>
        <p:spPr bwMode="auto">
          <a:xfrm rot="0">
            <a:off x="1198168" y="6193037"/>
            <a:ext cx="185059" cy="75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1"/>
              </a:lnSpc>
              <a:defRPr/>
            </a:pPr>
            <a:r>
              <a:rPr lang="en-US" sz="4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</a:rPr>
              <a:t>I</a:t>
            </a:r>
            <a:endParaRPr/>
          </a:p>
        </p:txBody>
      </p:sp>
      <p:sp>
        <p:nvSpPr>
          <p:cNvPr id="1543532977" name="TextBox 46"/>
          <p:cNvSpPr txBox="1"/>
          <p:nvPr/>
        </p:nvSpPr>
        <p:spPr bwMode="auto">
          <a:xfrm rot="0">
            <a:off x="1134164" y="7403012"/>
            <a:ext cx="313067" cy="75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1"/>
              </a:lnSpc>
              <a:defRPr/>
            </a:pPr>
            <a:r>
              <a:rPr lang="en-US" sz="4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</a:rPr>
              <a:t>E</a:t>
            </a:r>
            <a:endParaRPr/>
          </a:p>
        </p:txBody>
      </p:sp>
      <p:sp>
        <p:nvSpPr>
          <p:cNvPr id="905361482" name="TextBox 47"/>
          <p:cNvSpPr txBox="1"/>
          <p:nvPr/>
        </p:nvSpPr>
        <p:spPr bwMode="auto">
          <a:xfrm rot="0">
            <a:off x="8778430" y="2590759"/>
            <a:ext cx="2054523" cy="43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WIREFRAMES</a:t>
            </a:r>
            <a:endParaRPr/>
          </a:p>
        </p:txBody>
      </p:sp>
      <p:sp>
        <p:nvSpPr>
          <p:cNvPr id="891036089" name="TextBox 48"/>
          <p:cNvSpPr txBox="1"/>
          <p:nvPr/>
        </p:nvSpPr>
        <p:spPr bwMode="auto">
          <a:xfrm rot="0">
            <a:off x="7527091" y="3335215"/>
            <a:ext cx="658217" cy="26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INICIO</a:t>
            </a:r>
            <a:endParaRPr/>
          </a:p>
        </p:txBody>
      </p:sp>
      <p:sp>
        <p:nvSpPr>
          <p:cNvPr id="1684412754" name="TextBox 49"/>
          <p:cNvSpPr txBox="1"/>
          <p:nvPr/>
        </p:nvSpPr>
        <p:spPr bwMode="auto">
          <a:xfrm rot="0">
            <a:off x="12726881" y="3230971"/>
            <a:ext cx="1429048" cy="26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PANEL ADMIN</a:t>
            </a:r>
            <a:endParaRPr/>
          </a:p>
        </p:txBody>
      </p:sp>
      <p:sp>
        <p:nvSpPr>
          <p:cNvPr id="1896568539" name="TextBox 50"/>
          <p:cNvSpPr txBox="1"/>
          <p:nvPr/>
        </p:nvSpPr>
        <p:spPr bwMode="auto">
          <a:xfrm rot="0">
            <a:off x="10573343" y="5720009"/>
            <a:ext cx="1073150" cy="26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EGRESADO</a:t>
            </a:r>
            <a:endParaRPr/>
          </a:p>
        </p:txBody>
      </p:sp>
      <p:sp>
        <p:nvSpPr>
          <p:cNvPr id="1846244556" name="TextBox 51"/>
          <p:cNvSpPr txBox="1"/>
          <p:nvPr/>
        </p:nvSpPr>
        <p:spPr bwMode="auto">
          <a:xfrm rot="0">
            <a:off x="14404761" y="5705741"/>
            <a:ext cx="1248073" cy="26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EMPLEADOR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313852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</p:sp>
      <p:sp>
        <p:nvSpPr>
          <p:cNvPr id="28459133" name="TextBox 3"/>
          <p:cNvSpPr txBox="1"/>
          <p:nvPr/>
        </p:nvSpPr>
        <p:spPr bwMode="auto">
          <a:xfrm rot="0">
            <a:off x="1028700" y="2755713"/>
            <a:ext cx="7697831" cy="617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61"/>
              </a:lnSpc>
              <a:defRPr/>
            </a:pPr>
            <a:r>
              <a:rPr lang="en-US" sz="24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A</a:t>
            </a:r>
            <a:r>
              <a:rPr lang="en-US" sz="24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utenticación y Roles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Registro y login seguro 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Roles: Administrador, Egresado, Empleador.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Recuperación de contraseña vía email.</a:t>
            </a:r>
            <a:endParaRPr/>
          </a:p>
          <a:p>
            <a:pPr algn="just">
              <a:lnSpc>
                <a:spcPts val="3461"/>
              </a:lnSpc>
              <a:defRPr/>
            </a:pPr>
            <a:r>
              <a:rPr lang="en-US" sz="24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Gestión de Perfiles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Actualización de datos laborales.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Subida de CV (PDF) y enlace de portafolio.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Selección de habilidades técnicas.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Búsqueda avanzada por cohorte, género, sector.</a:t>
            </a:r>
            <a:endParaRPr/>
          </a:p>
          <a:p>
            <a:pPr algn="just">
              <a:lnSpc>
                <a:spcPts val="3461"/>
              </a:lnSpc>
              <a:defRPr/>
            </a:pPr>
            <a:r>
              <a:rPr lang="en-US" sz="24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Sistema de Encuestas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Creación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 de 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n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c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u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s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tas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 por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 par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t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e del 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ad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min.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P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re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gunta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s 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d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 tipo: opció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n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 múl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t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ipl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,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escala 1–5.</a:t>
            </a:r>
            <a:endParaRPr/>
          </a:p>
          <a:p>
            <a:pPr marL="533805" lvl="1" indent="-266903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Visualización de resul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t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ados en g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r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áfic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os.</a:t>
            </a:r>
            <a:endParaRPr/>
          </a:p>
          <a:p>
            <a:pPr algn="l">
              <a:lnSpc>
                <a:spcPts val="3461"/>
              </a:lnSpc>
              <a:defRPr/>
            </a:pPr>
            <a:endParaRPr/>
          </a:p>
        </p:txBody>
      </p:sp>
      <p:sp>
        <p:nvSpPr>
          <p:cNvPr id="489811680" name="TextBox 4"/>
          <p:cNvSpPr txBox="1"/>
          <p:nvPr/>
        </p:nvSpPr>
        <p:spPr bwMode="auto">
          <a:xfrm rot="0">
            <a:off x="2095727" y="716690"/>
            <a:ext cx="11863653" cy="673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  <a:defRPr/>
            </a:pPr>
            <a:r>
              <a:rPr lang="en-US" sz="41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FUNCIONALIDADES PRINCIPALES </a:t>
            </a:r>
            <a:endParaRPr/>
          </a:p>
        </p:txBody>
      </p:sp>
      <p:sp>
        <p:nvSpPr>
          <p:cNvPr id="1863725944" name="TextBox 5"/>
          <p:cNvSpPr txBox="1"/>
          <p:nvPr/>
        </p:nvSpPr>
        <p:spPr bwMode="auto">
          <a:xfrm rot="0">
            <a:off x="9144000" y="2755713"/>
            <a:ext cx="8195217" cy="5299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61"/>
              </a:lnSpc>
              <a:defRPr/>
            </a:pPr>
            <a:r>
              <a:rPr lang="en-US" sz="24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Dashboard Int</a:t>
            </a:r>
            <a:r>
              <a:rPr lang="en-US" sz="24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eractivo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Gráfico de barras: empleabilidad por cohorte.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Tabla: salarios promedio por rol técnico.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Gráfico de barra: sectores laborales .</a:t>
            </a:r>
            <a:endParaRPr/>
          </a:p>
          <a:p>
            <a:pPr algn="just">
              <a:lnSpc>
                <a:spcPts val="3461"/>
              </a:lnSpc>
              <a:defRPr/>
            </a:pPr>
            <a:r>
              <a:rPr lang="en-US" sz="24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Comunicación Interna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Mensajes entre egresados y administradores.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Notificaciones para actualizacion de Datos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Alerta de nuevas encuesta</a:t>
            </a:r>
            <a:endParaRPr/>
          </a:p>
          <a:p>
            <a:pPr algn="just">
              <a:lnSpc>
                <a:spcPts val="3461"/>
              </a:lnSpc>
              <a:defRPr/>
            </a:pPr>
            <a:r>
              <a:rPr lang="en-US" sz="24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Panel de Administración</a:t>
            </a:r>
            <a:endParaRPr/>
          </a:p>
          <a:p>
            <a:pPr marL="533804" lvl="1" indent="-266902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G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es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tión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 de 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n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cue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s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tas, 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u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suari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os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 y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r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portes.</a:t>
            </a:r>
            <a:endParaRPr/>
          </a:p>
          <a:p>
            <a:pPr marL="533805" lvl="1" indent="-266903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xporta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ción 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de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 dato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s en 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PDF y Excel</a:t>
            </a: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.</a:t>
            </a:r>
            <a:endParaRPr/>
          </a:p>
          <a:p>
            <a:pPr marL="533805" lvl="1" indent="-266903" algn="just">
              <a:lnSpc>
                <a:spcPts val="3461"/>
              </a:lnSpc>
              <a:buFont typeface="Arial"/>
              <a:buChar char="•"/>
              <a:defRPr/>
            </a:pPr>
            <a:r>
              <a:rPr lang="en-US" sz="2450">
                <a:solidFill>
                  <a:srgbClr val="1D417E"/>
                </a:solidFill>
                <a:latin typeface="Arial"/>
                <a:ea typeface="Arial"/>
                <a:cs typeface="Arial"/>
              </a:rPr>
              <a:t>Gestion de Usuarios (bloqueo/activacion)</a:t>
            </a:r>
            <a:endParaRPr/>
          </a:p>
        </p:txBody>
      </p:sp>
      <p:sp>
        <p:nvSpPr>
          <p:cNvPr id="968393325" name="TextBox 6"/>
          <p:cNvSpPr txBox="1"/>
          <p:nvPr/>
        </p:nvSpPr>
        <p:spPr bwMode="auto">
          <a:xfrm rot="0">
            <a:off x="1028700" y="1763827"/>
            <a:ext cx="5634137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defRPr/>
            </a:pPr>
            <a:r>
              <a:rPr lang="en-US" sz="3800" b="1">
                <a:solidFill>
                  <a:srgbClr val="1D417E"/>
                </a:solidFill>
                <a:latin typeface="Open Sans Bold"/>
                <a:ea typeface="Open Sans Bold"/>
                <a:cs typeface="Open Sans Bold"/>
              </a:rPr>
              <a:t>Requisitos Funcionales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549831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</p:sp>
      <p:sp>
        <p:nvSpPr>
          <p:cNvPr id="2142041651" name="TextBox 3"/>
          <p:cNvSpPr txBox="1"/>
          <p:nvPr/>
        </p:nvSpPr>
        <p:spPr bwMode="auto">
          <a:xfrm rot="0">
            <a:off x="1747497" y="1600458"/>
            <a:ext cx="12870304" cy="4530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6987" lvl="1" indent="-273493" algn="just">
              <a:lnSpc>
                <a:spcPts val="3546"/>
              </a:lnSpc>
              <a:buFont typeface="Arial"/>
              <a:buChar char="•"/>
              <a:defRPr/>
            </a:pPr>
            <a:r>
              <a:rPr lang="en-US" sz="25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Seg</a:t>
            </a:r>
            <a:r>
              <a:rPr lang="en-US" sz="25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uridad: </a:t>
            </a:r>
            <a:r>
              <a:rPr lang="en-US" sz="2550">
                <a:solidFill>
                  <a:srgbClr val="1D417E"/>
                </a:solidFill>
                <a:latin typeface="Arial"/>
                <a:ea typeface="Arial"/>
                <a:cs typeface="Arial"/>
              </a:rPr>
              <a:t>encriptación bcrypt, validaciones de sesiones, protección contra ataques.</a:t>
            </a:r>
            <a:endParaRPr/>
          </a:p>
          <a:p>
            <a:pPr algn="just">
              <a:lnSpc>
                <a:spcPts val="3546"/>
              </a:lnSpc>
              <a:defRPr/>
            </a:pPr>
            <a:endParaRPr/>
          </a:p>
          <a:p>
            <a:pPr marL="546987" lvl="1" indent="-273493" algn="just">
              <a:lnSpc>
                <a:spcPts val="3546"/>
              </a:lnSpc>
              <a:buFont typeface="Arial"/>
              <a:buChar char="•"/>
              <a:defRPr/>
            </a:pPr>
            <a:r>
              <a:rPr lang="en-US" sz="25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Rendimiento: </a:t>
            </a:r>
            <a:r>
              <a:rPr lang="en-US" sz="2550">
                <a:solidFill>
                  <a:srgbClr val="1D417E"/>
                </a:solidFill>
                <a:latin typeface="Arial"/>
                <a:ea typeface="Arial"/>
                <a:cs typeface="Arial"/>
              </a:rPr>
              <a:t>consultas optimizadas, paginación, tiempos de carga mínimos.</a:t>
            </a:r>
            <a:endParaRPr/>
          </a:p>
          <a:p>
            <a:pPr algn="just">
              <a:lnSpc>
                <a:spcPts val="3546"/>
              </a:lnSpc>
              <a:defRPr/>
            </a:pPr>
            <a:endParaRPr/>
          </a:p>
          <a:p>
            <a:pPr marL="546987" lvl="1" indent="-273493" algn="just">
              <a:lnSpc>
                <a:spcPts val="3546"/>
              </a:lnSpc>
              <a:buFont typeface="Arial"/>
              <a:buChar char="•"/>
              <a:defRPr/>
            </a:pPr>
            <a:r>
              <a:rPr lang="en-US" sz="25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Usabilidad:</a:t>
            </a:r>
            <a:r>
              <a:rPr lang="en-US" sz="2550">
                <a:solidFill>
                  <a:srgbClr val="1D417E"/>
                </a:solidFill>
                <a:latin typeface="Arial"/>
                <a:ea typeface="Arial"/>
                <a:cs typeface="Arial"/>
              </a:rPr>
              <a:t> Guia Interactiva para primeros usuarios</a:t>
            </a:r>
            <a:endParaRPr/>
          </a:p>
          <a:p>
            <a:pPr algn="just">
              <a:lnSpc>
                <a:spcPts val="3546"/>
              </a:lnSpc>
              <a:defRPr/>
            </a:pPr>
            <a:endParaRPr/>
          </a:p>
          <a:p>
            <a:pPr marL="546987" lvl="1" indent="-273493" algn="just">
              <a:lnSpc>
                <a:spcPts val="3546"/>
              </a:lnSpc>
              <a:buFont typeface="Arial"/>
              <a:buChar char="•"/>
              <a:defRPr/>
            </a:pPr>
            <a:r>
              <a:rPr lang="en-US" sz="25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Comp</a:t>
            </a:r>
            <a:r>
              <a:rPr lang="en-US" sz="25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atibilidad: </a:t>
            </a:r>
            <a:r>
              <a:rPr lang="en-US" sz="2550">
                <a:solidFill>
                  <a:srgbClr val="1D417E"/>
                </a:solidFill>
                <a:latin typeface="Arial"/>
                <a:ea typeface="Arial"/>
                <a:cs typeface="Arial"/>
              </a:rPr>
              <a:t>soporte para dispositivos móviles y navegadores modernos.</a:t>
            </a:r>
            <a:endParaRPr/>
          </a:p>
          <a:p>
            <a:pPr algn="just">
              <a:lnSpc>
                <a:spcPts val="3546"/>
              </a:lnSpc>
              <a:defRPr/>
            </a:pPr>
            <a:endParaRPr/>
          </a:p>
          <a:p>
            <a:pPr marL="546987" lvl="1" indent="-273493" algn="just">
              <a:lnSpc>
                <a:spcPts val="3546"/>
              </a:lnSpc>
              <a:buFont typeface="Arial"/>
              <a:buChar char="•"/>
              <a:defRPr/>
            </a:pPr>
            <a:r>
              <a:rPr lang="en-US" sz="25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Ma</a:t>
            </a:r>
            <a:r>
              <a:rPr lang="en-US" sz="25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ntenibilidad: </a:t>
            </a:r>
            <a:r>
              <a:rPr lang="en-US" sz="2550">
                <a:solidFill>
                  <a:srgbClr val="1D417E"/>
                </a:solidFill>
                <a:latin typeface="Arial"/>
                <a:ea typeface="Arial"/>
                <a:cs typeface="Arial"/>
              </a:rPr>
              <a:t>arquitectura MVC, código modular y documentado.</a:t>
            </a:r>
            <a:endParaRPr/>
          </a:p>
          <a:p>
            <a:pPr algn="l">
              <a:lnSpc>
                <a:spcPts val="3546"/>
              </a:lnSpc>
              <a:defRPr/>
            </a:pPr>
            <a:endParaRPr/>
          </a:p>
        </p:txBody>
      </p:sp>
      <p:sp>
        <p:nvSpPr>
          <p:cNvPr id="19464258" name="TextBox 4"/>
          <p:cNvSpPr txBox="1"/>
          <p:nvPr/>
        </p:nvSpPr>
        <p:spPr bwMode="auto">
          <a:xfrm rot="0">
            <a:off x="2095727" y="726215"/>
            <a:ext cx="11863653" cy="57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defRPr/>
            </a:pPr>
            <a:r>
              <a:rPr lang="en-US" sz="36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Requisitos No F</a:t>
            </a:r>
            <a:r>
              <a:rPr lang="en-US" sz="36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uncionales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335363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</p:sp>
      <p:sp>
        <p:nvSpPr>
          <p:cNvPr id="355555516" name="Freeform 3"/>
          <p:cNvSpPr/>
          <p:nvPr/>
        </p:nvSpPr>
        <p:spPr bwMode="auto">
          <a:xfrm rot="0" flipH="0" flipV="0">
            <a:off x="841094" y="0"/>
            <a:ext cx="15917988" cy="10287000"/>
          </a:xfrm>
          <a:custGeom>
            <a:avLst/>
            <a:gdLst/>
            <a:ahLst/>
            <a:cxnLst/>
            <a:rect l="l" t="t" r="r" b="b"/>
            <a:pathLst>
              <a:path w="15917988" h="10287000" fill="norm" stroke="1" extrusionOk="0">
                <a:moveTo>
                  <a:pt x="0" y="0"/>
                </a:moveTo>
                <a:lnTo>
                  <a:pt x="15917988" y="0"/>
                </a:lnTo>
                <a:lnTo>
                  <a:pt x="159179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33498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</p:sp>
      <p:sp>
        <p:nvSpPr>
          <p:cNvPr id="647365390" name="TextBox 3"/>
          <p:cNvSpPr txBox="1"/>
          <p:nvPr/>
        </p:nvSpPr>
        <p:spPr bwMode="auto">
          <a:xfrm rot="0">
            <a:off x="1747497" y="347976"/>
            <a:ext cx="11863653" cy="862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6"/>
              </a:lnSpc>
              <a:defRPr/>
            </a:pPr>
            <a:r>
              <a:rPr lang="en-US" sz="53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Conclus</a:t>
            </a:r>
            <a:r>
              <a:rPr lang="en-US" sz="53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iones</a:t>
            </a:r>
            <a:endParaRPr/>
          </a:p>
        </p:txBody>
      </p:sp>
      <p:sp>
        <p:nvSpPr>
          <p:cNvPr id="1388103654" name="TextBox 4"/>
          <p:cNvSpPr txBox="1"/>
          <p:nvPr/>
        </p:nvSpPr>
        <p:spPr bwMode="auto">
          <a:xfrm rot="0">
            <a:off x="1564782" y="4736215"/>
            <a:ext cx="11863653" cy="862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6"/>
              </a:lnSpc>
              <a:defRPr/>
            </a:pPr>
            <a:r>
              <a:rPr lang="en-US" sz="53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 Recome</a:t>
            </a:r>
            <a:r>
              <a:rPr lang="en-US" sz="5350" b="1">
                <a:solidFill>
                  <a:srgbClr val="1D417E"/>
                </a:solidFill>
                <a:latin typeface="Arial Bold"/>
                <a:ea typeface="Arial Bold"/>
                <a:cs typeface="Arial Bold"/>
              </a:rPr>
              <a:t>ndaciones</a:t>
            </a:r>
            <a:endParaRPr/>
          </a:p>
        </p:txBody>
      </p:sp>
      <p:sp>
        <p:nvSpPr>
          <p:cNvPr id="2072863863" name="TextBox 5"/>
          <p:cNvSpPr txBox="1"/>
          <p:nvPr/>
        </p:nvSpPr>
        <p:spPr bwMode="auto">
          <a:xfrm rot="0">
            <a:off x="9139238" y="4962842"/>
            <a:ext cx="95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43557789" name="TextBox 6"/>
          <p:cNvSpPr txBox="1"/>
          <p:nvPr/>
        </p:nvSpPr>
        <p:spPr bwMode="auto">
          <a:xfrm rot="0">
            <a:off x="1294974" y="1610625"/>
            <a:ext cx="14556681" cy="398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11" lvl="1" indent="-323856" algn="just">
              <a:lnSpc>
                <a:spcPts val="4200"/>
              </a:lnSpc>
              <a:buFont typeface="Arial"/>
              <a:buChar char="•"/>
              <a:defRPr/>
            </a:pPr>
            <a:r>
              <a:rPr lang="en-US" sz="3000" b="1">
                <a:solidFill>
                  <a:srgbClr val="1D417E"/>
                </a:solidFill>
                <a:latin typeface="Open Sans Bold"/>
                <a:ea typeface="Open Sans Bold"/>
                <a:cs typeface="Open Sans Bold"/>
              </a:rPr>
              <a:t>El sistema fortalece el vínculo entre la institución y sus egresados.</a:t>
            </a:r>
            <a:endParaRPr/>
          </a:p>
          <a:p>
            <a:pPr algn="just">
              <a:lnSpc>
                <a:spcPts val="4200"/>
              </a:lnSpc>
              <a:defRPr/>
            </a:pPr>
            <a:endParaRPr/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  <a:defRPr/>
            </a:pPr>
            <a:r>
              <a:rPr lang="en-US" sz="3000" b="1">
                <a:solidFill>
                  <a:srgbClr val="1D417E"/>
                </a:solidFill>
                <a:latin typeface="Open Sans Bold"/>
                <a:ea typeface="Open Sans Bold"/>
                <a:cs typeface="Open Sans Bold"/>
              </a:rPr>
              <a:t>Permite obtener datos reales sobre la inserción laboral de los titulados.</a:t>
            </a:r>
            <a:endParaRPr/>
          </a:p>
          <a:p>
            <a:pPr algn="just">
              <a:lnSpc>
                <a:spcPts val="4200"/>
              </a:lnSpc>
              <a:defRPr/>
            </a:pPr>
            <a:endParaRPr/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  <a:defRPr/>
            </a:pPr>
            <a:r>
              <a:rPr lang="en-US" sz="3000" b="1">
                <a:solidFill>
                  <a:srgbClr val="1D417E"/>
                </a:solidFill>
                <a:latin typeface="Open Sans Bold"/>
                <a:ea typeface="Open Sans Bold"/>
                <a:cs typeface="Open Sans Bold"/>
              </a:rPr>
              <a:t>Facilita mejoras continuas en los planes de estudio basadas en evidencia.</a:t>
            </a:r>
            <a:endParaRPr/>
          </a:p>
          <a:p>
            <a:pPr algn="just">
              <a:lnSpc>
                <a:spcPts val="4200"/>
              </a:lnSpc>
              <a:defRPr/>
            </a:pPr>
            <a:endParaRPr/>
          </a:p>
          <a:p>
            <a:pPr algn="ctr">
              <a:lnSpc>
                <a:spcPts val="6580"/>
              </a:lnSpc>
              <a:defRPr/>
            </a:pPr>
            <a:endParaRPr/>
          </a:p>
        </p:txBody>
      </p:sp>
      <p:sp>
        <p:nvSpPr>
          <p:cNvPr id="1431354696" name="TextBox 7"/>
          <p:cNvSpPr txBox="1"/>
          <p:nvPr/>
        </p:nvSpPr>
        <p:spPr bwMode="auto">
          <a:xfrm rot="0">
            <a:off x="1294974" y="5999109"/>
            <a:ext cx="15422266" cy="3455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11" lvl="1" indent="-323856" algn="just">
              <a:lnSpc>
                <a:spcPts val="4200"/>
              </a:lnSpc>
              <a:buFont typeface="Arial"/>
              <a:buChar char="•"/>
              <a:defRPr/>
            </a:pPr>
            <a:r>
              <a:rPr lang="en-US" sz="3000" b="1">
                <a:solidFill>
                  <a:srgbClr val="1D417E"/>
                </a:solidFill>
                <a:latin typeface="Open Sans Bold"/>
                <a:ea typeface="Open Sans Bold"/>
                <a:cs typeface="Open Sans Bold"/>
              </a:rPr>
              <a:t>Promover el uso del sistema entre egresados para mantener el vínculo activo.</a:t>
            </a:r>
            <a:endParaRPr/>
          </a:p>
          <a:p>
            <a:pPr algn="just">
              <a:lnSpc>
                <a:spcPts val="4200"/>
              </a:lnSpc>
              <a:defRPr/>
            </a:pPr>
            <a:endParaRPr/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  <a:defRPr/>
            </a:pPr>
            <a:r>
              <a:rPr lang="en-US" sz="3000" b="1">
                <a:solidFill>
                  <a:srgbClr val="1D417E"/>
                </a:solidFill>
                <a:latin typeface="Open Sans Bold"/>
                <a:ea typeface="Open Sans Bold"/>
                <a:cs typeface="Open Sans Bold"/>
              </a:rPr>
              <a:t>Monitorear y analizar periódicamente los datos recopilados.</a:t>
            </a:r>
            <a:endParaRPr/>
          </a:p>
          <a:p>
            <a:pPr algn="just">
              <a:lnSpc>
                <a:spcPts val="4200"/>
              </a:lnSpc>
              <a:defRPr/>
            </a:pPr>
            <a:endParaRPr/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  <a:defRPr/>
            </a:pPr>
            <a:r>
              <a:rPr lang="en-US" sz="3000" b="1">
                <a:solidFill>
                  <a:srgbClr val="1D417E"/>
                </a:solidFill>
                <a:latin typeface="Open Sans Bold"/>
                <a:ea typeface="Open Sans Bold"/>
                <a:cs typeface="Open Sans Bold"/>
              </a:rPr>
              <a:t>Utilizar la información del sistema para ajustar los contenidos académicos.</a:t>
            </a:r>
            <a:endParaRPr/>
          </a:p>
          <a:p>
            <a:pPr algn="ctr">
              <a:lnSpc>
                <a:spcPts val="6580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869778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</p:sp>
      <p:grpSp>
        <p:nvGrpSpPr>
          <p:cNvPr id="1065863611" name="Group 3"/>
          <p:cNvGrpSpPr/>
          <p:nvPr/>
        </p:nvGrpSpPr>
        <p:grpSpPr bwMode="auto">
          <a:xfrm rot="0">
            <a:off x="3413550" y="3317738"/>
            <a:ext cx="6950700" cy="2102752"/>
            <a:chOff x="0" y="0"/>
            <a:chExt cx="9267600" cy="2803670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267600" cy="2803670"/>
            </a:xfrm>
            <a:custGeom>
              <a:avLst/>
              <a:gdLst/>
              <a:ahLst/>
              <a:cxnLst/>
              <a:rect l="l" t="t" r="r" b="b"/>
              <a:pathLst>
                <a:path w="9267600" h="2803670" fill="norm" stroke="1" extrusionOk="0">
                  <a:moveTo>
                    <a:pt x="0" y="0"/>
                  </a:moveTo>
                  <a:lnTo>
                    <a:pt x="9267600" y="0"/>
                  </a:lnTo>
                  <a:lnTo>
                    <a:pt x="9267600" y="2803670"/>
                  </a:lnTo>
                  <a:lnTo>
                    <a:pt x="0" y="28036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19074"/>
              <a:ext cx="9267600" cy="302274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13421"/>
                </a:lnSpc>
                <a:defRPr/>
              </a:pPr>
              <a:r>
                <a:rPr lang="en-US" sz="11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</a:rPr>
                <a:t>GRACIAS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Defensa de Tesis</dc:title>
  <dc:identifier>DAGsbSoAQtU</dc:identifier>
  <cp:lastModifiedBy/>
  <cp:revision>2</cp:revision>
  <dcterms:created xsi:type="dcterms:W3CDTF">2006-08-16T00:00:00Z</dcterms:created>
  <dcterms:modified xsi:type="dcterms:W3CDTF">2025-07-15T15:16:12Z</dcterms:modified>
</cp:coreProperties>
</file>